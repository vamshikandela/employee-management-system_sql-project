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60" r:id="rId5"/>
    <p:sldId id="269" r:id="rId6"/>
    <p:sldId id="263" r:id="rId7"/>
    <p:sldId id="264" r:id="rId8"/>
    <p:sldId id="267" r:id="rId9"/>
    <p:sldId id="272" r:id="rId10"/>
    <p:sldId id="265" r:id="rId11"/>
    <p:sldId id="277" r:id="rId12"/>
    <p:sldId id="274" r:id="rId13"/>
    <p:sldId id="275" r:id="rId14"/>
    <p:sldId id="273" r:id="rId15"/>
    <p:sldId id="266" r:id="rId16"/>
    <p:sldId id="268" r:id="rId17"/>
    <p:sldId id="270" r:id="rId18"/>
    <p:sldId id="276" r:id="rId19"/>
    <p:sldId id="271" r:id="rId20"/>
    <p:sldId id="278" r:id="rId21"/>
    <p:sldId id="279" r:id="rId22"/>
    <p:sldId id="259" r:id="rId23"/>
  </p:sldIdLst>
  <p:sldSz cx="12192000" cy="6858000"/>
  <p:notesSz cx="6858000" cy="9144000"/>
  <p:embeddedFontLst>
    <p:embeddedFont>
      <p:font typeface="Lato Black" panose="020F0502020204030203" pitchFamily="34" charset="0"/>
      <p:bold r:id="rId25"/>
      <p:boldItalic r:id="rId26"/>
    </p:embeddedFont>
    <p:embeddedFont>
      <p:font typeface="Libre Baskerville" panose="02000000000000000000" pitchFamily="2" charset="0"/>
      <p:regular r:id="rId27"/>
      <p:bold r:id="rId28"/>
      <p: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0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14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customschemas.google.com/relationships/presentationmetadata" Target="meta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kandela-vamshi-2b4457258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Vamshikandela/Vamshikandela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63902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717986"/>
            <a:ext cx="7246189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IN" sz="28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EMPLOYEE MANAGEMENT SYSTEM</a:t>
            </a:r>
            <a:endParaRPr sz="28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A1902E-197C-F6A0-FF45-07B5DBBAF7EF}"/>
              </a:ext>
            </a:extLst>
          </p:cNvPr>
          <p:cNvSpPr txBox="1"/>
          <p:nvPr/>
        </p:nvSpPr>
        <p:spPr>
          <a:xfrm>
            <a:off x="6928701" y="5151258"/>
            <a:ext cx="52621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KANDELA VAMSHI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436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737812" y="1299172"/>
            <a:ext cx="8768138" cy="4911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55600" indent="-342900">
              <a:lnSpc>
                <a:spcPts val="2870"/>
              </a:lnSpc>
              <a:spcBef>
                <a:spcPts val="105"/>
              </a:spcBef>
              <a:buFont typeface="Wingdings" panose="05000000000000000000" pitchFamily="2" charset="2"/>
              <a:buChar char="q"/>
              <a:tabLst>
                <a:tab pos="337185" algn="l"/>
              </a:tabLst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</a:t>
            </a:r>
            <a:r>
              <a:rPr lang="en-IN" sz="2400"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Kandela</a:t>
            </a:r>
            <a:r>
              <a:rPr lang="en-IN"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Vamshi</a:t>
            </a:r>
          </a:p>
          <a:p>
            <a:pPr marL="355600" indent="-342900">
              <a:lnSpc>
                <a:spcPts val="2870"/>
              </a:lnSpc>
              <a:spcBef>
                <a:spcPts val="105"/>
              </a:spcBef>
              <a:buFont typeface="Wingdings" panose="05000000000000000000" pitchFamily="2" charset="2"/>
              <a:buChar char="q"/>
              <a:tabLst>
                <a:tab pos="337185" algn="l"/>
              </a:tabLst>
            </a:pPr>
            <a:endParaRPr lang="en-IN" sz="24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ts val="2870"/>
              </a:lnSpc>
              <a:buFont typeface="Wingdings" panose="05000000000000000000" pitchFamily="2" charset="2"/>
              <a:buChar char="q"/>
              <a:tabLst>
                <a:tab pos="337185" algn="l"/>
              </a:tabLst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Qualification</a:t>
            </a:r>
            <a:r>
              <a:rPr lang="en-IN" sz="2400" b="1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2700">
              <a:lnSpc>
                <a:spcPts val="2870"/>
              </a:lnSpc>
              <a:tabLst>
                <a:tab pos="337185" algn="l"/>
              </a:tabLst>
            </a:pPr>
            <a:r>
              <a:rPr lang="en-IN" sz="24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Bachelors</a:t>
            </a:r>
            <a:r>
              <a:rPr lang="en-IN"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IN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IN"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lang="en-IN"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(2025)</a:t>
            </a:r>
          </a:p>
          <a:p>
            <a:pPr marL="12700">
              <a:lnSpc>
                <a:spcPts val="2870"/>
              </a:lnSpc>
              <a:tabLst>
                <a:tab pos="337185" algn="l"/>
              </a:tabLst>
            </a:pPr>
            <a:endParaRPr lang="en-IN" sz="24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ts val="2865"/>
              </a:lnSpc>
              <a:spcBef>
                <a:spcPts val="45"/>
              </a:spcBef>
              <a:buFont typeface="Wingdings" panose="05000000000000000000" pitchFamily="2" charset="2"/>
              <a:buChar char="q"/>
              <a:tabLst>
                <a:tab pos="337185" algn="l"/>
              </a:tabLst>
            </a:pPr>
            <a:r>
              <a:rPr lang="en-IN"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Profile</a:t>
            </a:r>
            <a:r>
              <a:rPr lang="en-IN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699">
              <a:lnSpc>
                <a:spcPts val="2735"/>
              </a:lnSpc>
              <a:tabLst>
                <a:tab pos="413384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AS</a:t>
            </a:r>
            <a:r>
              <a:rPr lang="en-IN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Passionate</a:t>
            </a:r>
            <a:r>
              <a:rPr lang="en-IN"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IN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Making</a:t>
            </a:r>
            <a:r>
              <a:rPr lang="en-IN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“Data</a:t>
            </a:r>
            <a:r>
              <a:rPr lang="en-IN"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en-IN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Meaningful</a:t>
            </a:r>
            <a:r>
              <a:rPr lang="en-IN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insight”</a:t>
            </a:r>
          </a:p>
          <a:p>
            <a:pPr marL="12699">
              <a:lnSpc>
                <a:spcPts val="2735"/>
              </a:lnSpc>
              <a:tabLst>
                <a:tab pos="413384" algn="l"/>
              </a:tabLst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ts val="2865"/>
              </a:lnSpc>
              <a:buFont typeface="Wingdings" panose="05000000000000000000" pitchFamily="2" charset="2"/>
              <a:buChar char="q"/>
              <a:tabLst>
                <a:tab pos="337185" algn="l"/>
              </a:tabLst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LinkedIn</a:t>
            </a:r>
            <a:r>
              <a:rPr lang="en-IN" sz="2400" b="1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ts val="2870"/>
              </a:lnSpc>
              <a:spcBef>
                <a:spcPts val="45"/>
              </a:spcBef>
            </a:pPr>
            <a:r>
              <a:rPr lang="en-IN" sz="2400" b="1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www.linkedin.com/in/kandela-vamshi-2b4457258</a:t>
            </a:r>
            <a:endParaRPr lang="en-IN" sz="2400" b="1" u="sng" spc="-10" dirty="0">
              <a:solidFill>
                <a:srgbClr val="0462C1"/>
              </a:solidFill>
              <a:uFill>
                <a:solidFill>
                  <a:srgbClr val="0462C1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ts val="2870"/>
              </a:lnSpc>
              <a:spcBef>
                <a:spcPts val="45"/>
              </a:spcBef>
              <a:buFont typeface="Wingdings" panose="05000000000000000000" pitchFamily="2" charset="2"/>
              <a:buChar char="q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13384" indent="-400685">
              <a:lnSpc>
                <a:spcPts val="2870"/>
              </a:lnSpc>
              <a:buFont typeface="Wingdings" panose="05000000000000000000" pitchFamily="2" charset="2"/>
              <a:buChar char="q"/>
              <a:tabLst>
                <a:tab pos="413384" algn="l"/>
              </a:tabLst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IN" sz="2400"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spcBef>
                <a:spcPts val="50"/>
              </a:spcBef>
              <a:tabLst>
                <a:tab pos="241935" algn="l"/>
              </a:tabLst>
            </a:pPr>
            <a:r>
              <a:rPr lang="en-IN" sz="2400" b="1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400" b="1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https://github.com/Vamshikandela/Vamshikandela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27656" y="416554"/>
            <a:ext cx="6099463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me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sz="3200" b="1" dirty="0">
                <a:solidFill>
                  <a:srgbClr val="FF0000"/>
                </a:solidFill>
              </a:rPr>
              <a:t>Agenda</a:t>
            </a:r>
            <a:endParaRPr sz="3200"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278480" y="1040383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</a:t>
            </a: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the Project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 and schema explanation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query results with screenshots or summaries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business insights and recommendations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(Key finding overall) </a:t>
            </a: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Q&amp;A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AD1C4-880D-EACC-B005-E6E22C777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3209E-3A02-0255-9310-D72E398E3B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8950" y="1279525"/>
            <a:ext cx="10249619" cy="398857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MNC Companies it is difficult to manage employee details using Excel files and manual records.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the company grows, this approach leads to confusion, data errors, and delays in salary processing.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Managers find it difficult to track employee attendance, roles, and performance in one place.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Generating reports for decision-making becomes time-consuming.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solve this, the company needs an SQL-based Employee Management System to manage employee data efficiently.</a:t>
            </a:r>
          </a:p>
        </p:txBody>
      </p:sp>
    </p:spTree>
    <p:extLst>
      <p:ext uri="{BB962C8B-B14F-4D97-AF65-F5344CB8AC3E}">
        <p14:creationId xmlns:p14="http://schemas.microsoft.com/office/powerpoint/2010/main" val="1894624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C8E5E3-A6D8-CE61-0F19-FDFB667F88A3}"/>
              </a:ext>
            </a:extLst>
          </p:cNvPr>
          <p:cNvSpPr txBox="1"/>
          <p:nvPr/>
        </p:nvSpPr>
        <p:spPr>
          <a:xfrm>
            <a:off x="952500" y="457061"/>
            <a:ext cx="2552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</a:t>
            </a: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69E0A3-C240-2DDA-2DDD-B36876E4C733}"/>
              </a:ext>
            </a:extLst>
          </p:cNvPr>
          <p:cNvSpPr txBox="1"/>
          <p:nvPr/>
        </p:nvSpPr>
        <p:spPr>
          <a:xfrm>
            <a:off x="768350" y="1276459"/>
            <a:ext cx="98933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 efficient Employee Management System that centralizes employee records and automates HR processes.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streamline employee data handling such as attendance, roles, and performance tracking.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minimize manual errors and improve operational efficiency through structured data management.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support data-driven decision-making by providing accurate and real-time employee insights.</a:t>
            </a:r>
          </a:p>
        </p:txBody>
      </p:sp>
    </p:spTree>
    <p:extLst>
      <p:ext uri="{BB962C8B-B14F-4D97-AF65-F5344CB8AC3E}">
        <p14:creationId xmlns:p14="http://schemas.microsoft.com/office/powerpoint/2010/main" val="4186487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mputer screen shot of a computer">
            <a:extLst>
              <a:ext uri="{FF2B5EF4-FFF2-40B4-BE49-F238E27FC236}">
                <a16:creationId xmlns:a16="http://schemas.microsoft.com/office/drawing/2014/main" id="{3EC96ABE-4818-51D3-15BF-986D4B8B8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017" y="708676"/>
            <a:ext cx="9013889" cy="54406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7327F18-4121-2D6F-F342-3C5318938AAE}"/>
              </a:ext>
            </a:extLst>
          </p:cNvPr>
          <p:cNvSpPr txBox="1"/>
          <p:nvPr/>
        </p:nvSpPr>
        <p:spPr>
          <a:xfrm>
            <a:off x="1288211" y="0"/>
            <a:ext cx="32895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</a:p>
        </p:txBody>
      </p:sp>
    </p:spTree>
    <p:extLst>
      <p:ext uri="{BB962C8B-B14F-4D97-AF65-F5344CB8AC3E}">
        <p14:creationId xmlns:p14="http://schemas.microsoft.com/office/powerpoint/2010/main" val="4273540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E040DA6-2E21-5BA0-4128-4E37C5DC8B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8406"/>
          <a:stretch>
            <a:fillRect/>
          </a:stretch>
        </p:blipFill>
        <p:spPr>
          <a:xfrm>
            <a:off x="2552700" y="748510"/>
            <a:ext cx="6584950" cy="9461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C73F035-3A09-6399-3EED-E179D6293DA9}"/>
              </a:ext>
            </a:extLst>
          </p:cNvPr>
          <p:cNvSpPr txBox="1"/>
          <p:nvPr/>
        </p:nvSpPr>
        <p:spPr>
          <a:xfrm>
            <a:off x="4248150" y="108738"/>
            <a:ext cx="7594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 Table </a:t>
            </a:r>
          </a:p>
        </p:txBody>
      </p:sp>
      <p:pic>
        <p:nvPicPr>
          <p:cNvPr id="7" name="Picture 6" descr="A screenshot of a computer">
            <a:extLst>
              <a:ext uri="{FF2B5EF4-FFF2-40B4-BE49-F238E27FC236}">
                <a16:creationId xmlns:a16="http://schemas.microsoft.com/office/drawing/2014/main" id="{1D1FA008-C3F3-A3BB-52E7-B43D25A2BA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8569"/>
          <a:stretch>
            <a:fillRect/>
          </a:stretch>
        </p:blipFill>
        <p:spPr>
          <a:xfrm>
            <a:off x="2642114" y="2320529"/>
            <a:ext cx="6229350" cy="1193800"/>
          </a:xfrm>
          <a:prstGeom prst="rect">
            <a:avLst/>
          </a:prstGeom>
        </p:spPr>
      </p:pic>
      <p:pic>
        <p:nvPicPr>
          <p:cNvPr id="2" name="Picture 1" descr="A screenshot of a computer">
            <a:extLst>
              <a:ext uri="{FF2B5EF4-FFF2-40B4-BE49-F238E27FC236}">
                <a16:creationId xmlns:a16="http://schemas.microsoft.com/office/drawing/2014/main" id="{959BE2DA-EEAD-21AC-0C54-541E71DAC7F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8555"/>
          <a:stretch>
            <a:fillRect/>
          </a:stretch>
        </p:blipFill>
        <p:spPr>
          <a:xfrm>
            <a:off x="2629414" y="4234223"/>
            <a:ext cx="6431521" cy="12394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6D52C19-BE59-B09B-74C3-627F1760ACB5}"/>
              </a:ext>
            </a:extLst>
          </p:cNvPr>
          <p:cNvSpPr txBox="1"/>
          <p:nvPr/>
        </p:nvSpPr>
        <p:spPr>
          <a:xfrm>
            <a:off x="4092575" y="3677590"/>
            <a:ext cx="38989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Qualification Table</a:t>
            </a:r>
          </a:p>
          <a:p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B7432A-E707-17C0-A0AA-B2FABA6DFD96}"/>
              </a:ext>
            </a:extLst>
          </p:cNvPr>
          <p:cNvSpPr txBox="1"/>
          <p:nvPr/>
        </p:nvSpPr>
        <p:spPr>
          <a:xfrm>
            <a:off x="4092575" y="1745699"/>
            <a:ext cx="37782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 Department Table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425222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4F3D2-4B87-C55F-F41B-45E72D3CDF48}"/>
              </a:ext>
            </a:extLst>
          </p:cNvPr>
          <p:cNvSpPr txBox="1"/>
          <p:nvPr/>
        </p:nvSpPr>
        <p:spPr>
          <a:xfrm>
            <a:off x="4527550" y="12409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Salary Bonus Table</a:t>
            </a:r>
          </a:p>
        </p:txBody>
      </p:sp>
      <p:pic>
        <p:nvPicPr>
          <p:cNvPr id="5" name="Picture 4" descr="A screenshot of a table">
            <a:extLst>
              <a:ext uri="{FF2B5EF4-FFF2-40B4-BE49-F238E27FC236}">
                <a16:creationId xmlns:a16="http://schemas.microsoft.com/office/drawing/2014/main" id="{7422DCBC-7B2B-BD6D-AB5D-5F5BB0867F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0207"/>
          <a:stretch>
            <a:fillRect/>
          </a:stretch>
        </p:blipFill>
        <p:spPr>
          <a:xfrm>
            <a:off x="3470189" y="759363"/>
            <a:ext cx="5137322" cy="1150263"/>
          </a:xfrm>
          <a:prstGeom prst="rect">
            <a:avLst/>
          </a:prstGeom>
        </p:spPr>
      </p:pic>
      <p:pic>
        <p:nvPicPr>
          <p:cNvPr id="2" name="Picture 1" descr="A screenshot of a computer">
            <a:extLst>
              <a:ext uri="{FF2B5EF4-FFF2-40B4-BE49-F238E27FC236}">
                <a16:creationId xmlns:a16="http://schemas.microsoft.com/office/drawing/2014/main" id="{F072EF65-308C-9CCF-A255-8281DDE492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9785"/>
          <a:stretch>
            <a:fillRect/>
          </a:stretch>
        </p:blipFill>
        <p:spPr>
          <a:xfrm>
            <a:off x="3470189" y="2539506"/>
            <a:ext cx="4981876" cy="1422991"/>
          </a:xfrm>
          <a:prstGeom prst="rect">
            <a:avLst/>
          </a:prstGeom>
        </p:spPr>
      </p:pic>
      <p:pic>
        <p:nvPicPr>
          <p:cNvPr id="8" name="Picture 7" descr="A screenshot of a data">
            <a:extLst>
              <a:ext uri="{FF2B5EF4-FFF2-40B4-BE49-F238E27FC236}">
                <a16:creationId xmlns:a16="http://schemas.microsoft.com/office/drawing/2014/main" id="{05B9565C-F97D-D352-8A04-573E6B0F093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9933"/>
          <a:stretch>
            <a:fillRect/>
          </a:stretch>
        </p:blipFill>
        <p:spPr>
          <a:xfrm>
            <a:off x="2698750" y="4648523"/>
            <a:ext cx="6942095" cy="10772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437ED1-F85B-783D-AAB3-6F747F3E928E}"/>
              </a:ext>
            </a:extLst>
          </p:cNvPr>
          <p:cNvSpPr txBox="1"/>
          <p:nvPr/>
        </p:nvSpPr>
        <p:spPr>
          <a:xfrm>
            <a:off x="4978400" y="205475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Leaves Table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31AD9F-FD47-5036-997C-C6F25A370849}"/>
              </a:ext>
            </a:extLst>
          </p:cNvPr>
          <p:cNvSpPr txBox="1"/>
          <p:nvPr/>
        </p:nvSpPr>
        <p:spPr>
          <a:xfrm>
            <a:off x="4978400" y="4008663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Payroll Table</a:t>
            </a:r>
          </a:p>
          <a:p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8036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412DA-D4D8-ABEE-CF48-D770A09A1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24" y="-135207"/>
            <a:ext cx="10515600" cy="1325563"/>
          </a:xfrm>
        </p:spPr>
        <p:txBody>
          <a:bodyPr>
            <a:normAutofit/>
          </a:bodyPr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query results with screenshots or summaries</a:t>
            </a:r>
            <a:endParaRPr lang="en-IN" sz="3000" dirty="0"/>
          </a:p>
        </p:txBody>
      </p:sp>
      <p:pic>
        <p:nvPicPr>
          <p:cNvPr id="6" name="Picture 5" descr="A screenshot of a computer">
            <a:extLst>
              <a:ext uri="{FF2B5EF4-FFF2-40B4-BE49-F238E27FC236}">
                <a16:creationId xmlns:a16="http://schemas.microsoft.com/office/drawing/2014/main" id="{C7B0C006-6DED-9D6F-157D-296C00B9A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107" y="2101274"/>
            <a:ext cx="5249008" cy="21624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285361-D831-CB18-818F-15247417CD4F}"/>
              </a:ext>
            </a:extLst>
          </p:cNvPr>
          <p:cNvSpPr txBox="1"/>
          <p:nvPr/>
        </p:nvSpPr>
        <p:spPr>
          <a:xfrm>
            <a:off x="228600" y="1143000"/>
            <a:ext cx="751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Who are the top 5 highest-paid employees? </a:t>
            </a:r>
          </a:p>
        </p:txBody>
      </p:sp>
      <p:pic>
        <p:nvPicPr>
          <p:cNvPr id="9" name="Picture 8" descr="A computer code with black text">
            <a:extLst>
              <a:ext uri="{FF2B5EF4-FFF2-40B4-BE49-F238E27FC236}">
                <a16:creationId xmlns:a16="http://schemas.microsoft.com/office/drawing/2014/main" id="{2B28397C-CEF2-5C23-47AA-F1C50EE1F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083802"/>
            <a:ext cx="4892243" cy="26289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578B104-A12B-B0A3-CD66-149CC01A1440}"/>
              </a:ext>
            </a:extLst>
          </p:cNvPr>
          <p:cNvSpPr txBox="1"/>
          <p:nvPr/>
        </p:nvSpPr>
        <p:spPr>
          <a:xfrm>
            <a:off x="619806" y="1622137"/>
            <a:ext cx="2396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FDD309-06C9-B41C-909A-9BE7C44A4FE7}"/>
              </a:ext>
            </a:extLst>
          </p:cNvPr>
          <p:cNvSpPr txBox="1"/>
          <p:nvPr/>
        </p:nvSpPr>
        <p:spPr>
          <a:xfrm>
            <a:off x="7321550" y="142579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861756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131951-3C47-545D-C1D8-08175672E141}"/>
              </a:ext>
            </a:extLst>
          </p:cNvPr>
          <p:cNvSpPr txBox="1"/>
          <p:nvPr/>
        </p:nvSpPr>
        <p:spPr>
          <a:xfrm>
            <a:off x="228600" y="100112"/>
            <a:ext cx="69405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the average salary range per department?</a:t>
            </a:r>
          </a:p>
        </p:txBody>
      </p:sp>
      <p:pic>
        <p:nvPicPr>
          <p:cNvPr id="6" name="Picture 5" descr="A computer code with text">
            <a:extLst>
              <a:ext uri="{FF2B5EF4-FFF2-40B4-BE49-F238E27FC236}">
                <a16:creationId xmlns:a16="http://schemas.microsoft.com/office/drawing/2014/main" id="{69E6FAEB-71FE-9F13-917A-8B4F901E6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85962"/>
            <a:ext cx="4872455" cy="338041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5AD329A-3E16-E85D-9453-B840088D71D9}"/>
              </a:ext>
            </a:extLst>
          </p:cNvPr>
          <p:cNvSpPr txBox="1"/>
          <p:nvPr/>
        </p:nvSpPr>
        <p:spPr>
          <a:xfrm>
            <a:off x="666750" y="533797"/>
            <a:ext cx="11874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</a:p>
        </p:txBody>
      </p:sp>
      <p:pic>
        <p:nvPicPr>
          <p:cNvPr id="11" name="Picture 10" descr="A screenshot of a computer screen">
            <a:extLst>
              <a:ext uri="{FF2B5EF4-FFF2-40B4-BE49-F238E27FC236}">
                <a16:creationId xmlns:a16="http://schemas.microsoft.com/office/drawing/2014/main" id="{37C417B7-C9C4-DA32-C9CF-B6EF9EA4C8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065312"/>
            <a:ext cx="5328270" cy="272277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DC03BDC-6B6E-AC6E-CE11-B911A3256E16}"/>
              </a:ext>
            </a:extLst>
          </p:cNvPr>
          <p:cNvSpPr txBox="1"/>
          <p:nvPr/>
        </p:nvSpPr>
        <p:spPr>
          <a:xfrm>
            <a:off x="7607300" y="33094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836487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D77EEF-390C-5210-BF8B-BCBF6E8FF8D9}"/>
              </a:ext>
            </a:extLst>
          </p:cNvPr>
          <p:cNvSpPr txBox="1"/>
          <p:nvPr/>
        </p:nvSpPr>
        <p:spPr>
          <a:xfrm>
            <a:off x="285750" y="271563"/>
            <a:ext cx="7283450" cy="458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many different job roles exist in each department? 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1EC4435-711B-021C-C679-0B2A5ED56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7734" y="730251"/>
            <a:ext cx="3077004" cy="3086531"/>
          </a:xfrm>
          <a:prstGeom prst="rect">
            <a:avLst/>
          </a:prstGeom>
        </p:spPr>
      </p:pic>
      <p:pic>
        <p:nvPicPr>
          <p:cNvPr id="7" name="Picture 6" descr="A white background with black and blue text&#10;&#10;AI-generated content may be incorrect.">
            <a:extLst>
              <a:ext uri="{FF2B5EF4-FFF2-40B4-BE49-F238E27FC236}">
                <a16:creationId xmlns:a16="http://schemas.microsoft.com/office/drawing/2014/main" id="{4E59E854-353F-4CB8-9182-F5C0247A1C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262" y="1377798"/>
            <a:ext cx="5764788" cy="217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989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03C781-9AF5-781E-DC34-8220EA3A0F91}"/>
              </a:ext>
            </a:extLst>
          </p:cNvPr>
          <p:cNvSpPr txBox="1"/>
          <p:nvPr/>
        </p:nvSpPr>
        <p:spPr>
          <a:xfrm>
            <a:off x="431800" y="309663"/>
            <a:ext cx="76136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departments have the highest total salary allocation? </a:t>
            </a:r>
          </a:p>
        </p:txBody>
      </p:sp>
      <p:pic>
        <p:nvPicPr>
          <p:cNvPr id="7" name="Picture 6" descr="A white background with black text">
            <a:extLst>
              <a:ext uri="{FF2B5EF4-FFF2-40B4-BE49-F238E27FC236}">
                <a16:creationId xmlns:a16="http://schemas.microsoft.com/office/drawing/2014/main" id="{7A7B046B-FFC1-D7CA-6DED-6F118C457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128" y="1199895"/>
            <a:ext cx="5731472" cy="2819820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CBC98F8-1F14-0D74-AFCB-EFC56B47F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2129" y="1644543"/>
            <a:ext cx="3343742" cy="152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2823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3A759C-333F-C990-F7EB-F44ABBE30D93}"/>
              </a:ext>
            </a:extLst>
          </p:cNvPr>
          <p:cNvSpPr txBox="1"/>
          <p:nvPr/>
        </p:nvSpPr>
        <p:spPr>
          <a:xfrm>
            <a:off x="457200" y="169963"/>
            <a:ext cx="7429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the average bonus given per department? </a:t>
            </a:r>
          </a:p>
        </p:txBody>
      </p:sp>
      <p:pic>
        <p:nvPicPr>
          <p:cNvPr id="5" name="Picture 4" descr="A screenshot of a computer code">
            <a:extLst>
              <a:ext uri="{FF2B5EF4-FFF2-40B4-BE49-F238E27FC236}">
                <a16:creationId xmlns:a16="http://schemas.microsoft.com/office/drawing/2014/main" id="{1AABDA9B-FF12-2049-C28E-363401FD8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63408"/>
            <a:ext cx="5067299" cy="3286584"/>
          </a:xfrm>
          <a:prstGeom prst="rect">
            <a:avLst/>
          </a:prstGeom>
        </p:spPr>
      </p:pic>
      <p:pic>
        <p:nvPicPr>
          <p:cNvPr id="7" name="Picture 6" descr="A screenshot of a computer">
            <a:extLst>
              <a:ext uri="{FF2B5EF4-FFF2-40B4-BE49-F238E27FC236}">
                <a16:creationId xmlns:a16="http://schemas.microsoft.com/office/drawing/2014/main" id="{49D63CEB-0E69-F5B1-272B-E96E7AD6BF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9571" y="832565"/>
            <a:ext cx="3919780" cy="3617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6602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8D70EA-1C73-37D7-35BE-8CC66FB13163}"/>
              </a:ext>
            </a:extLst>
          </p:cNvPr>
          <p:cNvSpPr txBox="1"/>
          <p:nvPr/>
        </p:nvSpPr>
        <p:spPr>
          <a:xfrm>
            <a:off x="152400" y="16510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the total monthly payroll processed? </a:t>
            </a:r>
          </a:p>
        </p:txBody>
      </p:sp>
      <p:pic>
        <p:nvPicPr>
          <p:cNvPr id="5" name="Picture 4" descr="A screenshot of a computer code">
            <a:extLst>
              <a:ext uri="{FF2B5EF4-FFF2-40B4-BE49-F238E27FC236}">
                <a16:creationId xmlns:a16="http://schemas.microsoft.com/office/drawing/2014/main" id="{BCA85E83-8488-BA31-AF70-CBEF6FA7F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80" y="1133155"/>
            <a:ext cx="6842770" cy="2295845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FE90CE6-3926-6637-4EEA-938B85790B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292" b="5316"/>
          <a:stretch>
            <a:fillRect/>
          </a:stretch>
        </p:blipFill>
        <p:spPr>
          <a:xfrm>
            <a:off x="7397742" y="2644455"/>
            <a:ext cx="4513820" cy="84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0955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omputer screen shot of a code">
            <a:extLst>
              <a:ext uri="{FF2B5EF4-FFF2-40B4-BE49-F238E27FC236}">
                <a16:creationId xmlns:a16="http://schemas.microsoft.com/office/drawing/2014/main" id="{B8EB7344-2024-1387-5E97-88D48C723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845" y="1238029"/>
            <a:ext cx="5897068" cy="27116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2C4DE2-7CD7-E559-62A0-0B32E6561D60}"/>
              </a:ext>
            </a:extLst>
          </p:cNvPr>
          <p:cNvSpPr txBox="1"/>
          <p:nvPr/>
        </p:nvSpPr>
        <p:spPr>
          <a:xfrm>
            <a:off x="165100" y="147935"/>
            <a:ext cx="7327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department receives the highest total bonuses? </a:t>
            </a:r>
          </a:p>
        </p:txBody>
      </p:sp>
      <p:pic>
        <p:nvPicPr>
          <p:cNvPr id="9" name="Picture 8" descr="A screenshot of a computer">
            <a:extLst>
              <a:ext uri="{FF2B5EF4-FFF2-40B4-BE49-F238E27FC236}">
                <a16:creationId xmlns:a16="http://schemas.microsoft.com/office/drawing/2014/main" id="{D1538726-6B8E-F94F-6D34-ED6598CD88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0" t="10381" r="-300" b="9303"/>
          <a:stretch>
            <a:fillRect/>
          </a:stretch>
        </p:blipFill>
        <p:spPr>
          <a:xfrm>
            <a:off x="7384755" y="965200"/>
            <a:ext cx="4229690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7504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3468BD0-76A9-FB78-862C-0444E8779C69}"/>
              </a:ext>
            </a:extLst>
          </p:cNvPr>
          <p:cNvSpPr txBox="1"/>
          <p:nvPr/>
        </p:nvSpPr>
        <p:spPr>
          <a:xfrm>
            <a:off x="133350" y="15091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employees have taken the most leaves? </a:t>
            </a:r>
          </a:p>
        </p:txBody>
      </p:sp>
      <p:pic>
        <p:nvPicPr>
          <p:cNvPr id="7" name="Picture 6" descr="A computer code with blue text">
            <a:extLst>
              <a:ext uri="{FF2B5EF4-FFF2-40B4-BE49-F238E27FC236}">
                <a16:creationId xmlns:a16="http://schemas.microsoft.com/office/drawing/2014/main" id="{619DC372-0EAC-5B6F-D7E5-F571D6CC1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11" y="836283"/>
            <a:ext cx="4469212" cy="3718147"/>
          </a:xfrm>
          <a:prstGeom prst="rect">
            <a:avLst/>
          </a:prstGeom>
        </p:spPr>
      </p:pic>
      <p:pic>
        <p:nvPicPr>
          <p:cNvPr id="9" name="Picture 8" descr="A screenshot of a computer">
            <a:extLst>
              <a:ext uri="{FF2B5EF4-FFF2-40B4-BE49-F238E27FC236}">
                <a16:creationId xmlns:a16="http://schemas.microsoft.com/office/drawing/2014/main" id="{6C4AE1A6-1209-B518-07CC-D571780F3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4428" y="709283"/>
            <a:ext cx="3669074" cy="3357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8913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3247D05-F042-13F0-E11A-E75A7118070B}"/>
              </a:ext>
            </a:extLst>
          </p:cNvPr>
          <p:cNvSpPr txBox="1"/>
          <p:nvPr/>
        </p:nvSpPr>
        <p:spPr>
          <a:xfrm>
            <a:off x="374650" y="563663"/>
            <a:ext cx="7683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the total number of leave days taken company-wide? </a:t>
            </a:r>
          </a:p>
        </p:txBody>
      </p:sp>
      <p:pic>
        <p:nvPicPr>
          <p:cNvPr id="6" name="Picture 5" descr="A black and white text">
            <a:extLst>
              <a:ext uri="{FF2B5EF4-FFF2-40B4-BE49-F238E27FC236}">
                <a16:creationId xmlns:a16="http://schemas.microsoft.com/office/drawing/2014/main" id="{83F6026B-D919-7633-7E45-0A1238E97B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417" y="1765079"/>
            <a:ext cx="5125165" cy="1581371"/>
          </a:xfrm>
          <a:prstGeom prst="rect">
            <a:avLst/>
          </a:prstGeom>
        </p:spPr>
      </p:pic>
      <p:pic>
        <p:nvPicPr>
          <p:cNvPr id="9" name="Picture 8" descr="A screenshot of a computer">
            <a:extLst>
              <a:ext uri="{FF2B5EF4-FFF2-40B4-BE49-F238E27FC236}">
                <a16:creationId xmlns:a16="http://schemas.microsoft.com/office/drawing/2014/main" id="{0243FDD8-5ED1-6598-8E3B-801C6302AF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49" y="1847629"/>
            <a:ext cx="2923965" cy="1105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9588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6B119C-8263-D382-A2CD-5770BA1A9505}"/>
              </a:ext>
            </a:extLst>
          </p:cNvPr>
          <p:cNvSpPr txBox="1"/>
          <p:nvPr/>
        </p:nvSpPr>
        <p:spPr>
          <a:xfrm>
            <a:off x="323850" y="271562"/>
            <a:ext cx="71310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the total salary expenditure across the company?</a:t>
            </a:r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280870E7-BBF4-109F-74C3-DCEF22A965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933"/>
          <a:stretch>
            <a:fillRect/>
          </a:stretch>
        </p:blipFill>
        <p:spPr>
          <a:xfrm>
            <a:off x="131242" y="1530349"/>
            <a:ext cx="7459116" cy="1570159"/>
          </a:xfrm>
          <a:prstGeom prst="rect">
            <a:avLst/>
          </a:prstGeom>
        </p:spPr>
      </p:pic>
      <p:pic>
        <p:nvPicPr>
          <p:cNvPr id="7" name="Picture 6" descr="A screenshot of a computer">
            <a:extLst>
              <a:ext uri="{FF2B5EF4-FFF2-40B4-BE49-F238E27FC236}">
                <a16:creationId xmlns:a16="http://schemas.microsoft.com/office/drawing/2014/main" id="{290BF2D2-7FDD-B049-6B18-154CE132F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3369" y="1590604"/>
            <a:ext cx="3134162" cy="100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8288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45F7CF-DE06-BDCD-44FB-073808CA38A9}"/>
              </a:ext>
            </a:extLst>
          </p:cNvPr>
          <p:cNvSpPr txBox="1"/>
          <p:nvPr/>
        </p:nvSpPr>
        <p:spPr>
          <a:xfrm>
            <a:off x="412750" y="1807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40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business insights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651D80E-38B2-3A62-364B-2204F4F18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975" y="820907"/>
            <a:ext cx="11791949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Finance, IT, and Engineering departments account for the highest salary and bonus expenditures, indicating strong investment in core business functions.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Top-paid employees are concentrated in specialized roles, reflecting market-driven compensation strategies.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Bonus allocation varies by department, with Finance leading, highlighting performance-based reward structures.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Leave utilization is controlled and evenly distributed, suggesting effective workforce management and stable employee engagement.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5440A6-C0EC-2E1C-787E-5A2DD8D501B0}"/>
              </a:ext>
            </a:extLst>
          </p:cNvPr>
          <p:cNvSpPr txBox="1"/>
          <p:nvPr/>
        </p:nvSpPr>
        <p:spPr>
          <a:xfrm>
            <a:off x="244475" y="4447746"/>
            <a:ext cx="101092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Review high-compensation roles to ensure performance alignment.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Balance departmental salary and bonus budgets with business outcomes.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Strengthen fair, performance-linked incentive structures.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workforce data to support smarter HR and financial planning.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8EAC65-3EE1-BB53-80FD-3DDFF4C717A6}"/>
              </a:ext>
            </a:extLst>
          </p:cNvPr>
          <p:cNvSpPr txBox="1"/>
          <p:nvPr/>
        </p:nvSpPr>
        <p:spPr>
          <a:xfrm>
            <a:off x="412750" y="389867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9836290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B685FEB-D752-0BD4-8B06-98FA663D694E}"/>
              </a:ext>
            </a:extLst>
          </p:cNvPr>
          <p:cNvSpPr txBox="1"/>
          <p:nvPr/>
        </p:nvSpPr>
        <p:spPr>
          <a:xfrm>
            <a:off x="546100" y="1060331"/>
            <a:ext cx="87884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Employee Management System provides clear visibility into salary, bonus, and leave patterns across departments.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show that compensation is strategically focused on high-impact roles and core business functions.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leave usage reflects a stable and well-managed workforce.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system enables data-driven HR decisions, cost control, and improved workforce planning.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843634-6C89-1BEB-FC86-4999D2927624}"/>
              </a:ext>
            </a:extLst>
          </p:cNvPr>
          <p:cNvSpPr txBox="1"/>
          <p:nvPr/>
        </p:nvSpPr>
        <p:spPr>
          <a:xfrm>
            <a:off x="673100" y="417612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4383777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85EF147-3D21-078C-DEAC-498FE36F9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53" y="519353"/>
            <a:ext cx="10448897" cy="5494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4529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411</TotalTime>
  <Words>531</Words>
  <Application>Microsoft Office PowerPoint</Application>
  <PresentationFormat>Widescreen</PresentationFormat>
  <Paragraphs>82</Paragraphs>
  <Slides>22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Wingdings</vt:lpstr>
      <vt:lpstr>Times New Roman</vt:lpstr>
      <vt:lpstr>Lato Black</vt:lpstr>
      <vt:lpstr>Libre Baskerville</vt:lpstr>
      <vt:lpstr>Calibri</vt:lpstr>
      <vt:lpstr>Arial</vt:lpstr>
      <vt:lpstr>Office Theme</vt:lpstr>
      <vt:lpstr>PowerPoint Presentation</vt:lpstr>
      <vt:lpstr>PowerPoint Presentation</vt:lpstr>
      <vt:lpstr>Agenda</vt:lpstr>
      <vt:lpstr>BUSINESS PROBLEM </vt:lpstr>
      <vt:lpstr>PowerPoint Presentation</vt:lpstr>
      <vt:lpstr>PowerPoint Presentation</vt:lpstr>
      <vt:lpstr>PowerPoint Presentation</vt:lpstr>
      <vt:lpstr>PowerPoint Presentation</vt:lpstr>
      <vt:lpstr>SQL query results with screenshots or summaries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prashanth kandela</cp:lastModifiedBy>
  <cp:revision>9</cp:revision>
  <dcterms:created xsi:type="dcterms:W3CDTF">2021-02-16T05:19:01Z</dcterms:created>
  <dcterms:modified xsi:type="dcterms:W3CDTF">2025-12-24T10:12:26Z</dcterms:modified>
</cp:coreProperties>
</file>